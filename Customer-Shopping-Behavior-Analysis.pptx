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Overpass"/>
      <p:regular r:id="rId17"/>
    </p:embeddedFont>
    <p:embeddedFont>
      <p:font typeface="Overpass"/>
      <p:regular r:id="rId18"/>
    </p:embeddedFont>
    <p:embeddedFont>
      <p:font typeface="Overpass"/>
      <p:regular r:id="rId19"/>
    </p:embeddedFont>
    <p:embeddedFont>
      <p:font typeface="Overpass"/>
      <p:regular r:id="rId20"/>
    </p:embeddedFont>
    <p:embeddedFont>
      <p:font typeface="Overpass"/>
      <p:regular r:id="rId21"/>
    </p:embeddedFont>
    <p:embeddedFont>
      <p:font typeface="Overpass"/>
      <p:regular r:id="rId22"/>
    </p:embeddedFont>
    <p:embeddedFont>
      <p:font typeface="Overpass"/>
      <p:regular r:id="rId23"/>
    </p:embeddedFont>
    <p:embeddedFont>
      <p:font typeface="Overpas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Customer Shopping Behavior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Uncovering insights from transactional data to guide strategic business decisions.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11894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Project Overview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181939"/>
            <a:ext cx="3614618" cy="2536150"/>
          </a:xfrm>
          <a:prstGeom prst="roundRect">
            <a:avLst>
              <a:gd name="adj" fmla="val 5769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971B5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93644" y="2181939"/>
            <a:ext cx="121920" cy="2536150"/>
          </a:xfrm>
          <a:prstGeom prst="roundRect">
            <a:avLst>
              <a:gd name="adj" fmla="val 82464"/>
            </a:avLst>
          </a:prstGeom>
          <a:solidFill>
            <a:srgbClr val="F20374"/>
          </a:solidFill>
          <a:ln/>
        </p:spPr>
      </p:sp>
      <p:sp>
        <p:nvSpPr>
          <p:cNvPr id="6" name="Text 3"/>
          <p:cNvSpPr/>
          <p:nvPr/>
        </p:nvSpPr>
        <p:spPr>
          <a:xfrm>
            <a:off x="6685359" y="2451735"/>
            <a:ext cx="298358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Analyze 3,900 Purchases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85359" y="3299222"/>
            <a:ext cx="29835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Transactional data across various product categories.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10178058" y="2181939"/>
            <a:ext cx="3614618" cy="2536150"/>
          </a:xfrm>
          <a:prstGeom prst="roundRect">
            <a:avLst>
              <a:gd name="adj" fmla="val 5769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971B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47578" y="2181939"/>
            <a:ext cx="121920" cy="2536150"/>
          </a:xfrm>
          <a:prstGeom prst="roundRect">
            <a:avLst>
              <a:gd name="adj" fmla="val 82464"/>
            </a:avLst>
          </a:prstGeom>
          <a:solidFill>
            <a:srgbClr val="F20374"/>
          </a:solidFill>
          <a:ln/>
        </p:spPr>
      </p:sp>
      <p:sp>
        <p:nvSpPr>
          <p:cNvPr id="10" name="Text 7"/>
          <p:cNvSpPr/>
          <p:nvPr/>
        </p:nvSpPr>
        <p:spPr>
          <a:xfrm>
            <a:off x="10539293" y="2451735"/>
            <a:ext cx="298358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Uncover Spending Patterns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39293" y="3299222"/>
            <a:ext cx="29835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Identify customer segments and product preferences.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6324124" y="4957405"/>
            <a:ext cx="3614618" cy="2153126"/>
          </a:xfrm>
          <a:prstGeom prst="roundRect">
            <a:avLst>
              <a:gd name="adj" fmla="val 6795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971B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93644" y="4957405"/>
            <a:ext cx="121920" cy="2153126"/>
          </a:xfrm>
          <a:prstGeom prst="roundRect">
            <a:avLst>
              <a:gd name="adj" fmla="val 82464"/>
            </a:avLst>
          </a:prstGeom>
          <a:solidFill>
            <a:srgbClr val="F20374"/>
          </a:solidFill>
          <a:ln/>
        </p:spPr>
      </p:sp>
      <p:sp>
        <p:nvSpPr>
          <p:cNvPr id="14" name="Text 11"/>
          <p:cNvSpPr/>
          <p:nvPr/>
        </p:nvSpPr>
        <p:spPr>
          <a:xfrm>
            <a:off x="6685359" y="5227201"/>
            <a:ext cx="298358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Guide Business Decisions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85359" y="6074688"/>
            <a:ext cx="29835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Optimize strategies with data-driven insights.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243" y="482560"/>
            <a:ext cx="4129802" cy="51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Dataset Summary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14243" y="1437561"/>
            <a:ext cx="2064901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Data Snapshot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14243" y="1871067"/>
            <a:ext cx="6486882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Rows: 3,900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4243" y="2213134"/>
            <a:ext cx="6486882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Columns: 18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4243" y="2669381"/>
            <a:ext cx="2064901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4243" y="3102888"/>
            <a:ext cx="6486882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Customer demographics (Age, Gender, Location, Subscription)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4243" y="3444954"/>
            <a:ext cx="6486882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Purchase details (Item, Category, Amount, Season, Size, Color)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4243" y="3787021"/>
            <a:ext cx="6486882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Shopping behavior (Discount, Promo, Previous Purchases, Frequency, Review, Shipping)</a:t>
            </a:r>
            <a:endParaRPr lang="en-US" sz="13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6894" y="1459468"/>
            <a:ext cx="6486882" cy="64868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36894" y="8143756"/>
            <a:ext cx="2064901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Missing Data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36894" y="8577263"/>
            <a:ext cx="6486882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37 values in Review Rating column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75291"/>
            <a:ext cx="949332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Exploratory Data Analysis in Python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558058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01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2934414"/>
            <a:ext cx="4158734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5" name="Text 3"/>
          <p:cNvSpPr/>
          <p:nvPr/>
        </p:nvSpPr>
        <p:spPr>
          <a:xfrm>
            <a:off x="837724" y="3115032"/>
            <a:ext cx="358961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3610570"/>
            <a:ext cx="4158734" cy="11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Imported dataset with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checked structure and summary statistics.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235773" y="2558058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02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235773" y="2934414"/>
            <a:ext cx="4158734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9" name="Text 7"/>
          <p:cNvSpPr/>
          <p:nvPr/>
        </p:nvSpPr>
        <p:spPr>
          <a:xfrm>
            <a:off x="5235773" y="3115032"/>
            <a:ext cx="293334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5773" y="3610570"/>
            <a:ext cx="4158734" cy="79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Imputed missing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Review Rating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values using median by product category.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633823" y="2558058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633823" y="2934414"/>
            <a:ext cx="4158853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13" name="Text 11"/>
          <p:cNvSpPr/>
          <p:nvPr/>
        </p:nvSpPr>
        <p:spPr>
          <a:xfrm>
            <a:off x="9633823" y="3115032"/>
            <a:ext cx="316420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Column Standardization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33823" y="3610570"/>
            <a:ext cx="41588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Renamed columns to snake case for readability.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37724" y="520886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04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837724" y="5585222"/>
            <a:ext cx="6357818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17" name="Text 15"/>
          <p:cNvSpPr/>
          <p:nvPr/>
        </p:nvSpPr>
        <p:spPr>
          <a:xfrm>
            <a:off x="837724" y="57658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7724" y="6261378"/>
            <a:ext cx="6357818" cy="41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Created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and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434858" y="520886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05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7434858" y="5585222"/>
            <a:ext cx="6357818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21" name="Text 19"/>
          <p:cNvSpPr/>
          <p:nvPr/>
        </p:nvSpPr>
        <p:spPr>
          <a:xfrm>
            <a:off x="7434858" y="57658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4858" y="6261378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Loaded cleaned data into PostgreSQL for SQL analysis.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816" y="641033"/>
            <a:ext cx="9603581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Data Analysis using SQL: Key Insights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15816" y="2142292"/>
            <a:ext cx="4177546" cy="2789992"/>
          </a:xfrm>
          <a:prstGeom prst="roundRect">
            <a:avLst>
              <a:gd name="adj" fmla="val 5244"/>
            </a:avLst>
          </a:prstGeom>
          <a:solidFill>
            <a:srgbClr val="252222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5816" y="2111812"/>
            <a:ext cx="4177546" cy="121920"/>
          </a:xfrm>
          <a:prstGeom prst="roundRect">
            <a:avLst>
              <a:gd name="adj" fmla="val 80308"/>
            </a:avLst>
          </a:prstGeom>
          <a:solidFill>
            <a:srgbClr val="F20374"/>
          </a:solidFill>
          <a:ln/>
        </p:spPr>
      </p:sp>
      <p:sp>
        <p:nvSpPr>
          <p:cNvPr id="5" name="Shape 3"/>
          <p:cNvSpPr/>
          <p:nvPr/>
        </p:nvSpPr>
        <p:spPr>
          <a:xfrm>
            <a:off x="2554903" y="1792724"/>
            <a:ext cx="699254" cy="699254"/>
          </a:xfrm>
          <a:prstGeom prst="roundRect">
            <a:avLst>
              <a:gd name="adj" fmla="val 130768"/>
            </a:avLst>
          </a:prstGeom>
          <a:solidFill>
            <a:srgbClr val="F20374"/>
          </a:solidFill>
          <a:ln/>
        </p:spPr>
      </p:sp>
      <p:sp>
        <p:nvSpPr>
          <p:cNvPr id="6" name="Text 4"/>
          <p:cNvSpPr/>
          <p:nvPr/>
        </p:nvSpPr>
        <p:spPr>
          <a:xfrm>
            <a:off x="2764691" y="1967508"/>
            <a:ext cx="279678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9302" y="2724983"/>
            <a:ext cx="2742486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Revenue by Gender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079302" y="3207425"/>
            <a:ext cx="3650575" cy="74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Male customers generated higher revenue.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26368" y="2142292"/>
            <a:ext cx="4177546" cy="2789992"/>
          </a:xfrm>
          <a:prstGeom prst="roundRect">
            <a:avLst>
              <a:gd name="adj" fmla="val 5244"/>
            </a:avLst>
          </a:prstGeom>
          <a:solidFill>
            <a:srgbClr val="252222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26368" y="2111812"/>
            <a:ext cx="4177546" cy="121920"/>
          </a:xfrm>
          <a:prstGeom prst="roundRect">
            <a:avLst>
              <a:gd name="adj" fmla="val 80308"/>
            </a:avLst>
          </a:prstGeom>
          <a:solidFill>
            <a:srgbClr val="F20374"/>
          </a:solidFill>
          <a:ln/>
        </p:spPr>
      </p:sp>
      <p:sp>
        <p:nvSpPr>
          <p:cNvPr id="11" name="Shape 9"/>
          <p:cNvSpPr/>
          <p:nvPr/>
        </p:nvSpPr>
        <p:spPr>
          <a:xfrm>
            <a:off x="6965454" y="1792724"/>
            <a:ext cx="699254" cy="699254"/>
          </a:xfrm>
          <a:prstGeom prst="roundRect">
            <a:avLst>
              <a:gd name="adj" fmla="val 130768"/>
            </a:avLst>
          </a:prstGeom>
          <a:solidFill>
            <a:srgbClr val="F20374"/>
          </a:solidFill>
          <a:ln/>
        </p:spPr>
      </p:sp>
      <p:sp>
        <p:nvSpPr>
          <p:cNvPr id="12" name="Text 10"/>
          <p:cNvSpPr/>
          <p:nvPr/>
        </p:nvSpPr>
        <p:spPr>
          <a:xfrm>
            <a:off x="7175242" y="1967508"/>
            <a:ext cx="279678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9853" y="2724983"/>
            <a:ext cx="3650575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High-Spending Discount Users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5489853" y="3550087"/>
            <a:ext cx="3650575" cy="1118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Identified 839 customers who spent above average with discounts.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36919" y="2142292"/>
            <a:ext cx="4177665" cy="2789992"/>
          </a:xfrm>
          <a:prstGeom prst="roundRect">
            <a:avLst>
              <a:gd name="adj" fmla="val 5244"/>
            </a:avLst>
          </a:prstGeom>
          <a:solidFill>
            <a:srgbClr val="252222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6919" y="2111812"/>
            <a:ext cx="4177665" cy="121920"/>
          </a:xfrm>
          <a:prstGeom prst="roundRect">
            <a:avLst>
              <a:gd name="adj" fmla="val 80308"/>
            </a:avLst>
          </a:prstGeom>
          <a:solidFill>
            <a:srgbClr val="F2037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76124" y="1792724"/>
            <a:ext cx="699254" cy="699254"/>
          </a:xfrm>
          <a:prstGeom prst="roundRect">
            <a:avLst>
              <a:gd name="adj" fmla="val 130768"/>
            </a:avLst>
          </a:prstGeom>
          <a:solidFill>
            <a:srgbClr val="F20374"/>
          </a:solidFill>
          <a:ln/>
        </p:spPr>
      </p:sp>
      <p:sp>
        <p:nvSpPr>
          <p:cNvPr id="18" name="Text 16"/>
          <p:cNvSpPr/>
          <p:nvPr/>
        </p:nvSpPr>
        <p:spPr>
          <a:xfrm>
            <a:off x="11585912" y="1967508"/>
            <a:ext cx="279678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900404" y="2724983"/>
            <a:ext cx="3181707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Top 5 Products by Rating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9900404" y="3207425"/>
            <a:ext cx="3650694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Gloves, Sandals, Boots, Hat, Skirt.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15816" y="5514856"/>
            <a:ext cx="6382822" cy="2074426"/>
          </a:xfrm>
          <a:prstGeom prst="roundRect">
            <a:avLst>
              <a:gd name="adj" fmla="val 7053"/>
            </a:avLst>
          </a:prstGeom>
          <a:solidFill>
            <a:srgbClr val="252222">
              <a:alpha val="9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15816" y="5484376"/>
            <a:ext cx="6382822" cy="121920"/>
          </a:xfrm>
          <a:prstGeom prst="roundRect">
            <a:avLst>
              <a:gd name="adj" fmla="val 80308"/>
            </a:avLst>
          </a:prstGeom>
          <a:solidFill>
            <a:srgbClr val="F20374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540" y="5165288"/>
            <a:ext cx="699254" cy="699254"/>
          </a:xfrm>
          <a:prstGeom prst="roundRect">
            <a:avLst>
              <a:gd name="adj" fmla="val 130768"/>
            </a:avLst>
          </a:prstGeom>
          <a:solidFill>
            <a:srgbClr val="F20374"/>
          </a:solidFill>
          <a:ln/>
        </p:spPr>
      </p:sp>
      <p:sp>
        <p:nvSpPr>
          <p:cNvPr id="24" name="Text 22"/>
          <p:cNvSpPr/>
          <p:nvPr/>
        </p:nvSpPr>
        <p:spPr>
          <a:xfrm>
            <a:off x="3867329" y="5340072"/>
            <a:ext cx="279678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79302" y="6097548"/>
            <a:ext cx="3404116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Shipping Type Comparison</a:t>
            </a:r>
            <a:endParaRPr lang="en-US" sz="2150" dirty="0"/>
          </a:p>
        </p:txBody>
      </p:sp>
      <p:sp>
        <p:nvSpPr>
          <p:cNvPr id="26" name="Text 24"/>
          <p:cNvSpPr/>
          <p:nvPr/>
        </p:nvSpPr>
        <p:spPr>
          <a:xfrm>
            <a:off x="1079302" y="6579989"/>
            <a:ext cx="5855851" cy="74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Express shipping users had slightly higher average purchases.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431643" y="5514856"/>
            <a:ext cx="6382941" cy="2074426"/>
          </a:xfrm>
          <a:prstGeom prst="roundRect">
            <a:avLst>
              <a:gd name="adj" fmla="val 7053"/>
            </a:avLst>
          </a:prstGeom>
          <a:solidFill>
            <a:srgbClr val="252222">
              <a:alpha val="9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31643" y="5484376"/>
            <a:ext cx="6382941" cy="121920"/>
          </a:xfrm>
          <a:prstGeom prst="roundRect">
            <a:avLst>
              <a:gd name="adj" fmla="val 80308"/>
            </a:avLst>
          </a:prstGeom>
          <a:solidFill>
            <a:srgbClr val="F20374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73486" y="5165288"/>
            <a:ext cx="699254" cy="699254"/>
          </a:xfrm>
          <a:prstGeom prst="roundRect">
            <a:avLst>
              <a:gd name="adj" fmla="val 130768"/>
            </a:avLst>
          </a:prstGeom>
          <a:solidFill>
            <a:srgbClr val="F20374"/>
          </a:solidFill>
          <a:ln/>
        </p:spPr>
      </p:sp>
      <p:sp>
        <p:nvSpPr>
          <p:cNvPr id="30" name="Text 28"/>
          <p:cNvSpPr/>
          <p:nvPr/>
        </p:nvSpPr>
        <p:spPr>
          <a:xfrm>
            <a:off x="10483275" y="5340072"/>
            <a:ext cx="279678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95128" y="6097548"/>
            <a:ext cx="4141470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Subscribers vs. Non-Subscribers</a:t>
            </a:r>
            <a:endParaRPr lang="en-US" sz="2150" dirty="0"/>
          </a:p>
        </p:txBody>
      </p:sp>
      <p:sp>
        <p:nvSpPr>
          <p:cNvPr id="32" name="Text 30"/>
          <p:cNvSpPr/>
          <p:nvPr/>
        </p:nvSpPr>
        <p:spPr>
          <a:xfrm>
            <a:off x="7695128" y="6579989"/>
            <a:ext cx="5855970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Non-subscribers generated more total revenue.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39021"/>
            <a:ext cx="1051440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SQL Insights: Product &amp; Customer Focus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280761"/>
            <a:ext cx="4158734" cy="2864763"/>
          </a:xfrm>
          <a:prstGeom prst="roundRect">
            <a:avLst>
              <a:gd name="adj" fmla="val 5107"/>
            </a:avLst>
          </a:prstGeom>
          <a:solidFill>
            <a:srgbClr val="252222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7724" y="2250281"/>
            <a:ext cx="4158734" cy="121920"/>
          </a:xfrm>
          <a:prstGeom prst="roundRect">
            <a:avLst>
              <a:gd name="adj" fmla="val 82464"/>
            </a:avLst>
          </a:prstGeom>
          <a:solidFill>
            <a:srgbClr val="F20374"/>
          </a:solidFill>
          <a:ln/>
        </p:spPr>
      </p:sp>
      <p:sp>
        <p:nvSpPr>
          <p:cNvPr id="5" name="Shape 3"/>
          <p:cNvSpPr/>
          <p:nvPr/>
        </p:nvSpPr>
        <p:spPr>
          <a:xfrm>
            <a:off x="2557998" y="1921788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20374"/>
          </a:solidFill>
          <a:ln/>
        </p:spPr>
      </p:sp>
      <p:sp>
        <p:nvSpPr>
          <p:cNvPr id="6" name="Text 4"/>
          <p:cNvSpPr/>
          <p:nvPr/>
        </p:nvSpPr>
        <p:spPr>
          <a:xfrm>
            <a:off x="2773382" y="2101334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07519" y="2879169"/>
            <a:ext cx="361914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Discount-Dependent Products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07519" y="3726656"/>
            <a:ext cx="361914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Hat, Sneakers, Coat, Sweater, Pants had highest discounted purchases.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5235773" y="2280761"/>
            <a:ext cx="4158734" cy="2864763"/>
          </a:xfrm>
          <a:prstGeom prst="roundRect">
            <a:avLst>
              <a:gd name="adj" fmla="val 5107"/>
            </a:avLst>
          </a:prstGeom>
          <a:solidFill>
            <a:srgbClr val="252222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35773" y="2250281"/>
            <a:ext cx="4158734" cy="121920"/>
          </a:xfrm>
          <a:prstGeom prst="roundRect">
            <a:avLst>
              <a:gd name="adj" fmla="val 82464"/>
            </a:avLst>
          </a:prstGeom>
          <a:solidFill>
            <a:srgbClr val="F20374"/>
          </a:solidFill>
          <a:ln/>
        </p:spPr>
      </p:sp>
      <p:sp>
        <p:nvSpPr>
          <p:cNvPr id="11" name="Shape 9"/>
          <p:cNvSpPr/>
          <p:nvPr/>
        </p:nvSpPr>
        <p:spPr>
          <a:xfrm>
            <a:off x="6956048" y="1921788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20374"/>
          </a:solidFill>
          <a:ln/>
        </p:spPr>
      </p:sp>
      <p:sp>
        <p:nvSpPr>
          <p:cNvPr id="12" name="Text 10"/>
          <p:cNvSpPr/>
          <p:nvPr/>
        </p:nvSpPr>
        <p:spPr>
          <a:xfrm>
            <a:off x="7171432" y="2101334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05569" y="2879169"/>
            <a:ext cx="316992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05569" y="3374708"/>
            <a:ext cx="361914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Loyal (3116), Returning (701), New (83).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9633823" y="2280761"/>
            <a:ext cx="4158853" cy="2864763"/>
          </a:xfrm>
          <a:prstGeom prst="roundRect">
            <a:avLst>
              <a:gd name="adj" fmla="val 5107"/>
            </a:avLst>
          </a:prstGeom>
          <a:solidFill>
            <a:srgbClr val="252222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3823" y="2250281"/>
            <a:ext cx="4158853" cy="121920"/>
          </a:xfrm>
          <a:prstGeom prst="roundRect">
            <a:avLst>
              <a:gd name="adj" fmla="val 82464"/>
            </a:avLst>
          </a:prstGeom>
          <a:solidFill>
            <a:srgbClr val="F2037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54217" y="1921788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20374"/>
          </a:solidFill>
          <a:ln/>
        </p:spPr>
      </p:sp>
      <p:sp>
        <p:nvSpPr>
          <p:cNvPr id="18" name="Text 16"/>
          <p:cNvSpPr/>
          <p:nvPr/>
        </p:nvSpPr>
        <p:spPr>
          <a:xfrm>
            <a:off x="11569601" y="2101334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903619" y="2879169"/>
            <a:ext cx="361926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Top 3 Products per Category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903619" y="3726656"/>
            <a:ext cx="36192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Jewelry, Blouse, Sandals, Jacket lead their categories.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837724" y="5743813"/>
            <a:ext cx="6357818" cy="1746766"/>
          </a:xfrm>
          <a:prstGeom prst="roundRect">
            <a:avLst>
              <a:gd name="adj" fmla="val 8376"/>
            </a:avLst>
          </a:prstGeom>
          <a:solidFill>
            <a:srgbClr val="252222">
              <a:alpha val="9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37724" y="5713333"/>
            <a:ext cx="6357818" cy="121920"/>
          </a:xfrm>
          <a:prstGeom prst="roundRect">
            <a:avLst>
              <a:gd name="adj" fmla="val 82464"/>
            </a:avLst>
          </a:prstGeom>
          <a:solidFill>
            <a:srgbClr val="F20374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540" y="5384840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20374"/>
          </a:solidFill>
          <a:ln/>
        </p:spPr>
      </p:sp>
      <p:sp>
        <p:nvSpPr>
          <p:cNvPr id="24" name="Text 22"/>
          <p:cNvSpPr/>
          <p:nvPr/>
        </p:nvSpPr>
        <p:spPr>
          <a:xfrm>
            <a:off x="3872925" y="5564386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4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07519" y="6342221"/>
            <a:ext cx="405395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Repeat Buyers &amp; Subscriptions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07519" y="6837759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Repeat buyers are more likely to subscribe.</a:t>
            </a:r>
            <a:endParaRPr lang="en-US" sz="1850" dirty="0"/>
          </a:p>
        </p:txBody>
      </p:sp>
      <p:sp>
        <p:nvSpPr>
          <p:cNvPr id="27" name="Shape 25"/>
          <p:cNvSpPr/>
          <p:nvPr/>
        </p:nvSpPr>
        <p:spPr>
          <a:xfrm>
            <a:off x="7434858" y="5743813"/>
            <a:ext cx="6357818" cy="1746766"/>
          </a:xfrm>
          <a:prstGeom prst="roundRect">
            <a:avLst>
              <a:gd name="adj" fmla="val 8376"/>
            </a:avLst>
          </a:prstGeom>
          <a:solidFill>
            <a:srgbClr val="252222">
              <a:alpha val="9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34858" y="5713333"/>
            <a:ext cx="6357818" cy="121920"/>
          </a:xfrm>
          <a:prstGeom prst="roundRect">
            <a:avLst>
              <a:gd name="adj" fmla="val 82464"/>
            </a:avLst>
          </a:prstGeom>
          <a:solidFill>
            <a:srgbClr val="F20374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54675" y="5384840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20374"/>
          </a:solidFill>
          <a:ln/>
        </p:spPr>
      </p:sp>
      <p:sp>
        <p:nvSpPr>
          <p:cNvPr id="30" name="Text 28"/>
          <p:cNvSpPr/>
          <p:nvPr/>
        </p:nvSpPr>
        <p:spPr>
          <a:xfrm>
            <a:off x="10470059" y="5564386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5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7704653" y="6342221"/>
            <a:ext cx="296013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Revenue by Age Group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704653" y="6837759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Young Adult group contributed highest revenue.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7573" y="461605"/>
            <a:ext cx="3950137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Revenue by Gender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73" y="1291114"/>
            <a:ext cx="13455253" cy="75348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7573" y="9014817"/>
            <a:ext cx="13455253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Male customers generated significantly more revenue than female customers.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7573" y="461605"/>
            <a:ext cx="4447699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Customer Segmentation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73" y="1291114"/>
            <a:ext cx="13455253" cy="73365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337923" y="8658106"/>
            <a:ext cx="167878" cy="167878"/>
          </a:xfrm>
          <a:prstGeom prst="roundRect">
            <a:avLst>
              <a:gd name="adj" fmla="val 10894"/>
            </a:avLst>
          </a:prstGeom>
          <a:solidFill>
            <a:srgbClr val="79013A"/>
          </a:solidFill>
          <a:ln/>
        </p:spPr>
      </p:sp>
      <p:sp>
        <p:nvSpPr>
          <p:cNvPr id="5" name="Text 2"/>
          <p:cNvSpPr/>
          <p:nvPr/>
        </p:nvSpPr>
        <p:spPr>
          <a:xfrm>
            <a:off x="4566761" y="8658106"/>
            <a:ext cx="4042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Loyal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036832" y="8658106"/>
            <a:ext cx="167878" cy="167878"/>
          </a:xfrm>
          <a:prstGeom prst="roundRect">
            <a:avLst>
              <a:gd name="adj" fmla="val 10894"/>
            </a:avLst>
          </a:prstGeom>
          <a:solidFill>
            <a:srgbClr val="F00373"/>
          </a:solidFill>
          <a:ln/>
        </p:spPr>
      </p:sp>
      <p:sp>
        <p:nvSpPr>
          <p:cNvPr id="7" name="Text 4"/>
          <p:cNvSpPr/>
          <p:nvPr/>
        </p:nvSpPr>
        <p:spPr>
          <a:xfrm>
            <a:off x="7265670" y="8658106"/>
            <a:ext cx="32766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New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59303" y="8658106"/>
            <a:ext cx="167878" cy="167878"/>
          </a:xfrm>
          <a:prstGeom prst="roundRect">
            <a:avLst>
              <a:gd name="adj" fmla="val 10894"/>
            </a:avLst>
          </a:prstGeom>
          <a:solidFill>
            <a:srgbClr val="FD6FB2"/>
          </a:solidFill>
          <a:ln/>
        </p:spPr>
      </p:sp>
      <p:sp>
        <p:nvSpPr>
          <p:cNvPr id="9" name="Text 6"/>
          <p:cNvSpPr/>
          <p:nvPr/>
        </p:nvSpPr>
        <p:spPr>
          <a:xfrm>
            <a:off x="9888141" y="8658106"/>
            <a:ext cx="7437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Returning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7573" y="9014817"/>
            <a:ext cx="13455253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majority of customers are loyal, highlighting strong retention.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1952" y="727115"/>
            <a:ext cx="7502723" cy="50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Power BI Dashboard: Visualizing Trends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1952" y="1650921"/>
            <a:ext cx="4173022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Interactive dashboard for customer trend analysis.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52" y="2122170"/>
            <a:ext cx="4173022" cy="417302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694789" y="1689854"/>
            <a:ext cx="3337560" cy="1757363"/>
          </a:xfrm>
          <a:prstGeom prst="roundRect">
            <a:avLst>
              <a:gd name="adj" fmla="val 413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875407" y="1870472"/>
            <a:ext cx="518993" cy="518993"/>
          </a:xfrm>
          <a:prstGeom prst="roundRect">
            <a:avLst>
              <a:gd name="adj" fmla="val 17616973"/>
            </a:avLst>
          </a:prstGeom>
          <a:solidFill>
            <a:srgbClr val="F20374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8163" y="2013109"/>
            <a:ext cx="233482" cy="23348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875407" y="2562463"/>
            <a:ext cx="2035612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3.9K Customers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0875407" y="2989898"/>
            <a:ext cx="2976324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Total customer base.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10694789" y="3620214"/>
            <a:ext cx="3337560" cy="1757363"/>
          </a:xfrm>
          <a:prstGeom prst="roundRect">
            <a:avLst>
              <a:gd name="adj" fmla="val 413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0875407" y="3800832"/>
            <a:ext cx="518993" cy="518993"/>
          </a:xfrm>
          <a:prstGeom prst="roundRect">
            <a:avLst>
              <a:gd name="adj" fmla="val 17616973"/>
            </a:avLst>
          </a:prstGeom>
          <a:solidFill>
            <a:srgbClr val="F20374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18163" y="3943469"/>
            <a:ext cx="233482" cy="2334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75407" y="4492823"/>
            <a:ext cx="2035612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$59.76 Avg. Purchase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0875407" y="4920258"/>
            <a:ext cx="2976324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Average transaction value.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10694789" y="5550575"/>
            <a:ext cx="3337560" cy="1757363"/>
          </a:xfrm>
          <a:prstGeom prst="roundRect">
            <a:avLst>
              <a:gd name="adj" fmla="val 413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10875407" y="5731193"/>
            <a:ext cx="518993" cy="518993"/>
          </a:xfrm>
          <a:prstGeom prst="roundRect">
            <a:avLst>
              <a:gd name="adj" fmla="val 17616973"/>
            </a:avLst>
          </a:prstGeom>
          <a:solidFill>
            <a:srgbClr val="F20374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18163" y="5873829"/>
            <a:ext cx="233482" cy="23348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875407" y="6423184"/>
            <a:ext cx="2035612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3.75 Avg. Review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10875407" y="6850618"/>
            <a:ext cx="2976324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Overall customer satisfaction.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717" y="616148"/>
            <a:ext cx="6894314" cy="657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Business Recommendations</a:t>
            </a:r>
            <a:endParaRPr lang="en-US" sz="4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6537" y="1728073"/>
            <a:ext cx="335399" cy="335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9474" y="1721168"/>
            <a:ext cx="2631043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Boost Subscriptions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1509474" y="2184202"/>
            <a:ext cx="12338209" cy="35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Promote exclusive benefits for subscribers.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537" y="2995970"/>
            <a:ext cx="335399" cy="3353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9474" y="2989064"/>
            <a:ext cx="3414593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Customer Loyalty Programs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1509474" y="3452098"/>
            <a:ext cx="12338209" cy="35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Reward repeat buyers to foster loyalty.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537" y="4263866"/>
            <a:ext cx="335399" cy="33539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09474" y="4256961"/>
            <a:ext cx="2853809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Review Discount Policy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1509474" y="4719995"/>
            <a:ext cx="12338209" cy="35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Balance sales boosts with margin control.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6537" y="5531763"/>
            <a:ext cx="335399" cy="33539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09474" y="5524857"/>
            <a:ext cx="2631043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Product Positioning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1509474" y="5987891"/>
            <a:ext cx="12338209" cy="35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Highlight top-rated and best-selling products.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6537" y="6799659"/>
            <a:ext cx="335399" cy="33539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09474" y="6792754"/>
            <a:ext cx="2631043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Targeted Marketing</a:t>
            </a:r>
            <a:endParaRPr lang="en-US" sz="2050" dirty="0"/>
          </a:p>
        </p:txBody>
      </p:sp>
      <p:sp>
        <p:nvSpPr>
          <p:cNvPr id="17" name="Text 10"/>
          <p:cNvSpPr/>
          <p:nvPr/>
        </p:nvSpPr>
        <p:spPr>
          <a:xfrm>
            <a:off x="1509474" y="7255788"/>
            <a:ext cx="12338209" cy="35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Focus on high-revenue age groups and express-shipping users.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2025-11-18T08:58:19Z</dcterms:created>
  <dcterms:modified xsi:type="dcterms:W3CDTF">2025-11-18T08:58:19Z</dcterms:modified>
</cp:coreProperties>
</file>